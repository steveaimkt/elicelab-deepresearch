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CFCDCA"/>
                </a:solidFill>
                <a:latin typeface="Pretendard"/>
              </a:rPr>
              <a:t>리서치 보고서 · 딥리서치 에이전트 산출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Pretendard"/>
              </a:rPr>
              <a:t>AI 교육 과정, 지금 늘려야 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7548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CFCDCA"/>
                </a:solidFill>
                <a:latin typeface="Pretendard"/>
              </a:rPr>
              <a:t>국내 기업교육 AI 교육 수요 · 내년 과정 확대 판단 · 2026.07.24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FCDCA"/>
                </a:solidFill>
                <a:latin typeface="Pretendard"/>
              </a:rPr>
              <a:t>WMBB · 엘리스랩 딥리서치 교육      2026.07.24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848383"/>
                </a:solidFill>
                <a:latin typeface="Pretendard"/>
              </a:rPr>
              <a:t>1 · 질문과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2A2A28"/>
                </a:solidFill>
                <a:latin typeface="Pretendard"/>
              </a:rPr>
              <a:t>답부터 · 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377440"/>
            <a:ext cx="107899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sz="2200" b="0">
                <a:solidFill>
                  <a:srgbClr val="555553"/>
                </a:solidFill>
                <a:latin typeface="Pretendard"/>
              </a:rPr>
              <a:t>질문: 내년에 AI 교육 과정을 늘려야 하는가?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500" b="1">
                <a:solidFill>
                  <a:srgbClr val="2A2A28"/>
                </a:solidFill>
                <a:latin typeface="Pretendard"/>
              </a:rPr>
              <a:t>결론: 지금은 대량 확대보다 '실습·실행 중심 파일럿'이 맞다.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555553"/>
                </a:solidFill>
                <a:latin typeface="Pretendard"/>
              </a:rPr>
              <a:t>업계 편성은 급증했지만 실제 조직 실행(3.6%)·도입률(5%)은 아직 초기다.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5553"/>
                </a:solidFill>
                <a:latin typeface="Pretendard"/>
              </a:rPr>
              <a:t>WMBB · 엘리스랩 딥리서치 교육      2026.07.24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848383"/>
                </a:solidFill>
                <a:latin typeface="Pretendard"/>
              </a:rPr>
              <a:t>2 · 인사이트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2A2A28"/>
                </a:solidFill>
                <a:latin typeface="Pretendard"/>
              </a:rPr>
              <a:t>자료가 아니라 판단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2A2A28"/>
                </a:solidFill>
                <a:latin typeface="Pretendard"/>
              </a:rPr>
              <a:t>[반전] </a:t>
            </a:r>
            <a:r>
              <a:rPr sz="1900" b="1">
                <a:solidFill>
                  <a:srgbClr val="2A2A28"/>
                </a:solidFill>
                <a:latin typeface="Pretendard"/>
              </a:rPr>
              <a:t>업계는 AI 에이전트 교육 +102%인데, 조직 실행은 3.6%·도입률 5%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555553"/>
                </a:solidFill>
                <a:latin typeface="Pretendard"/>
              </a:rPr>
              <a:t>공급은 폭증, 실수요는 아직. 업계가 밀 뿐.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2A2A28"/>
                </a:solidFill>
                <a:latin typeface="Pretendard"/>
              </a:rPr>
              <a:t>[결정영향] </a:t>
            </a:r>
            <a:r>
              <a:rPr sz="1900" b="1">
                <a:solidFill>
                  <a:srgbClr val="2A2A28"/>
                </a:solidFill>
                <a:latin typeface="Pretendard"/>
              </a:rPr>
              <a:t>수요가 '활용'에서 '실행'으로 이동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555553"/>
                </a:solidFill>
                <a:latin typeface="Pretendard"/>
              </a:rPr>
              <a:t>자동화 스크립트·에이전트 등 결과물 구현형이 뜬다.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0060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900" b="1">
                <a:solidFill>
                  <a:srgbClr val="2A2A28"/>
                </a:solidFill>
                <a:latin typeface="Pretendard"/>
              </a:rPr>
              <a:t>[비교] </a:t>
            </a:r>
            <a:r>
              <a:rPr sz="1900" b="1">
                <a:solidFill>
                  <a:srgbClr val="2A2A28"/>
                </a:solidFill>
                <a:latin typeface="Pretendard"/>
              </a:rPr>
              <a:t>재직자 수요는 마케팅·기획 집중, ROI 산출이 최대 장벽(55.8%)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555553"/>
                </a:solidFill>
                <a:latin typeface="Pretendard"/>
              </a:rPr>
              <a:t>타겟과 성과지표를 좁혀야 전환된다.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5553"/>
                </a:solidFill>
                <a:latin typeface="Pretendard"/>
              </a:rPr>
              <a:t>WMBB · 엘리스랩 딥리서치 교육      2026.07.24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CFCDCA"/>
                </a:solidFill>
                <a:latin typeface="Pretendard"/>
              </a:rPr>
              <a:t>3 · 반대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600" b="1">
                <a:solidFill>
                  <a:srgbClr val="EBFF2C"/>
                </a:solidFill>
                <a:latin typeface="Pretendard"/>
              </a:rPr>
              <a:t>교육사 발표</a:t>
            </a:r>
            <a:r>
              <a:rPr sz="2600" b="1">
                <a:solidFill>
                  <a:srgbClr val="FFFFFF"/>
                </a:solidFill>
                <a:latin typeface="Pretendard"/>
              </a:rPr>
              <a:t>는 '수요 급증'을 말한다.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CFCDCA"/>
                </a:solidFill>
                <a:latin typeface="Pretendard"/>
              </a:rPr>
              <a:t>단 자기이해가 있어 가중치를 낮춘다. 재수강·만족도 자료는 1곳뿐이라 '미확인'.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CFCDCA"/>
                </a:solidFill>
                <a:latin typeface="Pretendard"/>
              </a:rPr>
              <a:t>WMBB · 엘리스랩 딥리서치 교육      2026.07.24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848383"/>
                </a:solidFill>
                <a:latin typeface="Pretendard"/>
              </a:rPr>
              <a:t>4 · 그래서 뭘 해야 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2A2A28"/>
                </a:solidFill>
                <a:latin typeface="Pretendard"/>
              </a:rPr>
              <a:t>다음 액션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107899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900" b="1">
                <a:solidFill>
                  <a:srgbClr val="2A2A28"/>
                </a:solidFill>
                <a:latin typeface="Pretendard"/>
              </a:rPr>
              <a:t>01   </a:t>
            </a:r>
            <a:r>
              <a:rPr sz="1900" b="0">
                <a:solidFill>
                  <a:srgbClr val="555553"/>
                </a:solidFill>
                <a:latin typeface="Pretendard"/>
              </a:rPr>
              <a:t>대량 확대 대신 대기업·중견 대상 '실행·실습형 파일럿 1개'를 먼저 연다.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900" b="1">
                <a:solidFill>
                  <a:srgbClr val="2A2A28"/>
                </a:solidFill>
                <a:latin typeface="Pretendard"/>
              </a:rPr>
              <a:t>02   </a:t>
            </a:r>
            <a:r>
              <a:rPr sz="1900" b="0">
                <a:solidFill>
                  <a:srgbClr val="555553"/>
                </a:solidFill>
                <a:latin typeface="Pretendard"/>
              </a:rPr>
              <a:t>차별점은 '활용'이 아니라 '결과물 직접 구현' — 이탈 원인(적용률 낮음)을 정면으로.</a:t>
            </a:r>
          </a:p>
          <a:p>
            <a:pPr>
              <a:lnSpc>
                <a:spcPct val="130000"/>
              </a:lnSpc>
              <a:spcAft>
                <a:spcPts val="1600"/>
              </a:spcAft>
            </a:pPr>
            <a:r>
              <a:rPr sz="1900" b="1">
                <a:solidFill>
                  <a:srgbClr val="2A2A28"/>
                </a:solidFill>
                <a:latin typeface="Pretendard"/>
              </a:rPr>
              <a:t>03   </a:t>
            </a:r>
            <a:r>
              <a:rPr sz="1900" b="0">
                <a:solidFill>
                  <a:srgbClr val="555553"/>
                </a:solidFill>
                <a:latin typeface="Pretendard"/>
              </a:rPr>
              <a:t>네이버 데이터랩 검색 수요가 지속 상승하면 그때 정규 과정으로 확대.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5553"/>
                </a:solidFill>
                <a:latin typeface="Pretendard"/>
              </a:rPr>
              <a:t>WMBB · 엘리스랩 딥리서치 교육      2026.07.24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848383"/>
                </a:solidFill>
                <a:latin typeface="Pretendard"/>
              </a:rPr>
              <a:t>5 · 확인 5 / 미확인 1 / 버림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2A2A28"/>
                </a:solidFill>
                <a:latin typeface="Pretendard"/>
              </a:rPr>
              <a:t>근거와 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789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>
                <a:solidFill>
                  <a:srgbClr val="2A2A28"/>
                </a:solidFill>
                <a:latin typeface="Pretendard"/>
              </a:rPr>
              <a:t>[1] </a:t>
            </a:r>
            <a:r>
              <a:rPr sz="1600" b="0">
                <a:solidFill>
                  <a:srgbClr val="555553"/>
                </a:solidFill>
                <a:latin typeface="Pretendard"/>
              </a:rPr>
              <a:t>한경 · 기업 AI 교육 '활용→실행', 에이전트 교육 +102%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>
                <a:solidFill>
                  <a:srgbClr val="2A2A28"/>
                </a:solidFill>
                <a:latin typeface="Pretendard"/>
              </a:rPr>
              <a:t>[2] </a:t>
            </a:r>
            <a:r>
              <a:rPr sz="1600" b="0">
                <a:solidFill>
                  <a:srgbClr val="555553"/>
                </a:solidFill>
                <a:latin typeface="Pretendard"/>
              </a:rPr>
              <a:t>startupn · 필요성 64% vs 실행 3.6% (팀스파르타 리포트)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>
                <a:solidFill>
                  <a:srgbClr val="2A2A28"/>
                </a:solidFill>
                <a:latin typeface="Pretendard"/>
              </a:rPr>
              <a:t>[3] </a:t>
            </a:r>
            <a:r>
              <a:rPr sz="1600" b="0">
                <a:solidFill>
                  <a:srgbClr val="555553"/>
                </a:solidFill>
                <a:latin typeface="Pretendard"/>
              </a:rPr>
              <a:t>연합뉴스 · 국내 AI 도입률 5.0%, 초기 확산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>
                <a:solidFill>
                  <a:srgbClr val="2A2A28"/>
                </a:solidFill>
                <a:latin typeface="Pretendard"/>
              </a:rPr>
              <a:t>[4] </a:t>
            </a:r>
            <a:r>
              <a:rPr sz="1600" b="0">
                <a:solidFill>
                  <a:srgbClr val="555553"/>
                </a:solidFill>
                <a:latin typeface="Pretendard"/>
              </a:rPr>
              <a:t>ktnews · 섬유패션 재직자 교육 마케팅·기획 집중, ROI 55.8%</a:t>
            </a:r>
          </a:p>
          <a:p>
            <a:pPr>
              <a:lnSpc>
                <a:spcPct val="130000"/>
              </a:lnSpc>
              <a:spcAft>
                <a:spcPts val="1000"/>
              </a:spcAft>
            </a:pPr>
            <a:r>
              <a:rPr sz="1600" b="1">
                <a:solidFill>
                  <a:srgbClr val="2A2A28"/>
                </a:solidFill>
                <a:latin typeface="Pretendard"/>
              </a:rPr>
              <a:t>[5] </a:t>
            </a:r>
            <a:r>
              <a:rPr sz="1600" b="0">
                <a:solidFill>
                  <a:srgbClr val="555553"/>
                </a:solidFill>
                <a:latin typeface="Pretendard"/>
              </a:rPr>
              <a:t>youthassembly · 콥스랩 실무형 AI 교육 수요 증가(교육사 발표)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848383"/>
                </a:solidFill>
                <a:latin typeface="Pretendard"/>
              </a:rPr>
              <a:t>버림: 교사·대학(주제 밖) · 에듀테크 소개(근거 약함) · 중복 · 교육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55553"/>
                </a:solidFill>
                <a:latin typeface="Pretendard"/>
              </a:rPr>
              <a:t>WMBB · 엘리스랩 딥리서치 교육      2026.07.24       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